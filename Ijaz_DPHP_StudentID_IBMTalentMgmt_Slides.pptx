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the strategic context of IBM's transformation in 2003. CEO Sam Palmisano envisioned the transition of IBM from a classic multinational company with independent regional operations to a Globally Integrated Enterprise, or GIE. Under this model, operations are integrated globally to optimize costs, maximize efficiency, and utilize regional resource advantages. For a services and consulting organization, talent is the primary source of competitive advantage, which required a completely new approach to global workforce management.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the urgent drivers for change that forced Randy MacDonald and IBM's leadership to invest in WMI. Prior to WMI, IBM suffered from low billable utilization, with consultants on the bench in one country while project talent was desperately needed in another. The lack of visibility between full-time employees, applicants, and contractors resulted in duplicate hiring and high contractor expenditures. The company relied heavily on informal personal networks to staff projects, which was slow, inefficient, and highly localized.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address these drivers, IBM launched the Workforce Management Initiative to treat talent like a supply chain. The central core of WMI is the Expertise Taxonomy, which provides a common global language to describe skills and roles. The taxonomy is structured as a five-level hierarchy, running from Primary Job Categories down to specific individual skills. This taxonomy acted like product SKUs in a warehouse, enabling real-time visibility of capabilities across the global enterprise of over 440,000 workers.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how the Expertise Taxonomy replaced obsolete localized job descriptions with a dynamic, centralized framework. By utilizing business-led governance, IBM successfully consolidated duplicates, reducing the number of job roles from 650 down to fewer than 300. Additionally, over 40,000 digital learning resources were linked directly to skills gaps, enabling automated learning recommendations. This dynamic system enabled managers to quickly search for, identify, and deploy qualified talent globally without relying on personal networks.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examines the stakeholder interests and tensions of Senior HR Leadership and Line Managers. HR leaders sought global standardization, process efficiency, and a clear, measurable ROI to justify the massive investment. In contrast, line managers prioritized rapid project delivery and feared that a centralized system would restrict their autonomy. To resolve these tensions, IBM implemented the 'dual-hatting' model, which blended functional HR leadership with business-unit partner roles, giving managers direct access to strategic HR support.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explores the interests of employees, contractors, and external labor suppliers. Employees valued global career opportunities and learning, but feared that the supply chain metaphor reduced them to interchangeable barcodes. Contractors and suppliers faced downward rate pressure as the integrated talent marketplace made internal alternatives visible. IBM addressed employee concerns by launching the Global Opportunity Marketplace and establishing robust data privacy controls that complied with regional legislation.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quantitative and strategic successes of the WMI. Operationally, billable utilization rates increased by nine percentage points between 2003 and 2008, generating tens of millions of dollars in consulting revenue. Financially, a total investment of US$230 million over five years generated over US$1.5 billion in total benefits, including US$453 million in direct bottom-line savings. Additionally, the system strengthened IBM's employer brand by providing visible development paths and establishing a modern deal of lifetime employability.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Despite the quantitative success, the WMI faced significant qualitative limitations. The supply-chain metaphor risks commoditizing the workforce by managing talent purely through database queries and ignoring human factors like motivation and chemistry. Data quality was also challenged by self-assessment bias, requiring significant manager verification and administrative burden. Furthermore, regional data privacy laws in Europe restricted cross-border sharing, and many traditional HR professionals lacked the analytical skills to operate the system.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first half of our policy recommendations, focusing on the conditions for replication. Other multinational enterprises should not blindly copy the WMI, as it is a highly complex system requiring massive scale and investment. Replicability is highly dependent on an organization having over 50,000 employees and operating in a services or knowledge-intensive industry. Additionally, a robust, business-led decentralized governance model, similar to IBM's Taxonomy Stewards, must be established to keep the database accurate.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second half of our policy recommendations, detailing implementation guidelines. Organizations must maintain a hybrid, 'human-in-the-loop' placement model, using data for short-listing but leaving final selection to human judgment. CHROs must invest heavily in analytics and business training for their HR teams to close the capability gap. To mitigate legal risks, the system must be built with a privacy-by-design architecture, and leadership must actively balance numerical metrics with employee trust and organizational culture.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final slide concludes the presentation by highlighting that WMI revolutionized strategic human resource management. By creating an integrated talent supply chain, IBM showed that human capital can be managed with the same precision as physical or financial assets. However, the ultimate takeaway is that process excellence must not come at the expense of human-centric values. When technology, structural design, and human care are aligned, HR can truly anticipate future business needs and drive global competitiveness.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14800" cy="68580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0" y="0"/>
            <a:ext cx="91440" cy="68580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0"/>
            <a:ext cx="3200400" cy="2286000"/>
          </a:xfrm>
          <a:prstGeom prst="rect">
            <a:avLst/>
          </a:prstGeom>
          <a:noFill/>
        </p:spPr>
        <p:txBody>
          <a:bodyPr wrap="none">
            <a:spAutoFit/>
          </a:bodyPr>
          <a:lstStyle/>
          <a:p>
            <a:pPr algn="ctr">
              <a:defRPr sz="9600" b="1">
                <a:solidFill>
                  <a:srgbClr val="FFFFFF"/>
                </a:solidFill>
                <a:latin typeface="Arial"/>
              </a:defRPr>
            </a:pPr>
            <a:r>
              <a:t>IBM</a:t>
            </a:r>
          </a:p>
        </p:txBody>
      </p:sp>
      <p:sp>
        <p:nvSpPr>
          <p:cNvPr id="5" name="TextBox 4"/>
          <p:cNvSpPr txBox="1"/>
          <p:nvPr/>
        </p:nvSpPr>
        <p:spPr>
          <a:xfrm>
            <a:off x="4572000" y="1371600"/>
            <a:ext cx="7132320" cy="4114800"/>
          </a:xfrm>
          <a:prstGeom prst="rect">
            <a:avLst/>
          </a:prstGeom>
          <a:noFill/>
        </p:spPr>
        <p:txBody>
          <a:bodyPr wrap="square">
            <a:spAutoFit/>
          </a:bodyPr>
          <a:lstStyle/>
          <a:p>
            <a:pPr>
              <a:spcAft>
                <a:spcPts val="1200"/>
              </a:spcAft>
              <a:defRPr sz="4000" b="1">
                <a:solidFill>
                  <a:srgbClr val="0A2540"/>
                </a:solidFill>
                <a:latin typeface="Arial"/>
              </a:defRPr>
            </a:pPr>
            <a:r>
              <a:t>IBM's Global Talent Management Strategy</a:t>
            </a:r>
          </a:p>
          <a:p>
            <a:pPr>
              <a:spcAft>
                <a:spcPts val="3600"/>
              </a:spcAft>
              <a:defRPr sz="2200" b="1">
                <a:solidFill>
                  <a:srgbClr val="0066CC"/>
                </a:solidFill>
                <a:latin typeface="Arial"/>
              </a:defRPr>
            </a:pPr>
            <a:r>
              <a:t>The Vision of the Globally Integrated Enterprise</a:t>
            </a:r>
          </a:p>
          <a:p>
            <a:pPr algn="l">
              <a:defRPr sz="1600">
                <a:solidFill>
                  <a:srgbClr val="333333"/>
                </a:solidFill>
                <a:latin typeface="Arial"/>
              </a:defRPr>
            </a:pPr>
            <a:r>
              <a:t>Presenter: Ijaz DPHP  |  StudentID: [Student ID]</a:t>
            </a:r>
            <a:br/>
            <a:r>
              <a:t>Course Code: MSPA-SHRM</a:t>
            </a:r>
            <a:br/>
            <a:r>
              <a:t>Date: June 18, 2026</a:t>
            </a:r>
            <a:br/>
            <a:r>
              <a:t>Case Study Series: Parts A, B &amp; 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731520"/>
          </a:xfrm>
          <a:prstGeom prst="rect">
            <a:avLst/>
          </a:prstGeom>
          <a:noFill/>
        </p:spPr>
        <p:txBody>
          <a:bodyPr wrap="square">
            <a:spAutoFit/>
          </a:bodyPr>
          <a:lstStyle/>
          <a:p>
            <a:pPr algn="ctr">
              <a:defRPr sz="3600" b="1">
                <a:solidFill>
                  <a:srgbClr val="0A2540"/>
                </a:solidFill>
                <a:latin typeface="Arial"/>
              </a:defRPr>
            </a:pPr>
            <a:r>
              <a:t>Presentation Agenda</a:t>
            </a:r>
          </a:p>
        </p:txBody>
      </p:sp>
      <p:sp>
        <p:nvSpPr>
          <p:cNvPr id="4" name="TextBox 3"/>
          <p:cNvSpPr txBox="1"/>
          <p:nvPr/>
        </p:nvSpPr>
        <p:spPr>
          <a:xfrm>
            <a:off x="457200" y="6492240"/>
            <a:ext cx="11277295" cy="274320"/>
          </a:xfrm>
          <a:prstGeom prst="rect">
            <a:avLst/>
          </a:prstGeom>
          <a:noFill/>
        </p:spPr>
        <p:txBody>
          <a:bodyPr wrap="none">
            <a:spAutoFit/>
          </a:bodyPr>
          <a:lstStyle/>
          <a:p>
            <a:pPr algn="r">
              <a:defRPr sz="1000" i="1">
                <a:solidFill>
                  <a:srgbClr val="808080"/>
                </a:solidFill>
                <a:latin typeface="Arial"/>
              </a:defRPr>
            </a:pPr>
            <a:r>
              <a:t>Boudreau, J. W. (2010). IBM's Global Talent Management Strategy. SHRM.</a:t>
            </a:r>
          </a:p>
        </p:txBody>
      </p:sp>
      <p:sp>
        <p:nvSpPr>
          <p:cNvPr id="5" name="TextBox 4"/>
          <p:cNvSpPr txBox="1"/>
          <p:nvPr/>
        </p:nvSpPr>
        <p:spPr>
          <a:xfrm>
            <a:off x="731520" y="1645920"/>
            <a:ext cx="5943600" cy="4114800"/>
          </a:xfrm>
          <a:prstGeom prst="rect">
            <a:avLst/>
          </a:prstGeom>
          <a:noFill/>
        </p:spPr>
        <p:txBody>
          <a:bodyPr wrap="square">
            <a:spAutoFit/>
          </a:bodyPr>
          <a:lstStyle/>
          <a:p>
            <a:pPr algn="l">
              <a:spcAft>
                <a:spcPts val="1000"/>
              </a:spcAft>
              <a:defRPr sz="2000">
                <a:solidFill>
                  <a:srgbClr val="333333"/>
                </a:solidFill>
                <a:latin typeface="Arial"/>
              </a:defRPr>
            </a:pPr>
            <a:r>
              <a:t>• Case Strategic Context &amp; Drivers of Change</a:t>
            </a:r>
          </a:p>
          <a:p>
            <a:pPr algn="l">
              <a:spcAft>
                <a:spcPts val="1000"/>
              </a:spcAft>
              <a:defRPr sz="2000">
                <a:solidFill>
                  <a:srgbClr val="333333"/>
                </a:solidFill>
                <a:latin typeface="Arial"/>
              </a:defRPr>
            </a:pPr>
            <a:r>
              <a:t>• The WMI Vision &amp; Expertise Taxonomy</a:t>
            </a:r>
          </a:p>
          <a:p>
            <a:pPr algn="l">
              <a:spcAft>
                <a:spcPts val="1000"/>
              </a:spcAft>
              <a:defRPr sz="2000">
                <a:solidFill>
                  <a:srgbClr val="333333"/>
                </a:solidFill>
                <a:latin typeface="Arial"/>
              </a:defRPr>
            </a:pPr>
            <a:r>
              <a:t>• Key Stakeholder Dynamics &amp; Interests</a:t>
            </a:r>
          </a:p>
          <a:p>
            <a:pPr algn="l">
              <a:spcAft>
                <a:spcPts val="1000"/>
              </a:spcAft>
              <a:defRPr sz="2000">
                <a:solidFill>
                  <a:srgbClr val="333333"/>
                </a:solidFill>
                <a:latin typeface="Arial"/>
              </a:defRPr>
            </a:pPr>
            <a:r>
              <a:t>• Comprehensive Quantitative &amp; Qualitative Evaluation</a:t>
            </a:r>
          </a:p>
          <a:p>
            <a:pPr algn="l">
              <a:spcAft>
                <a:spcPts val="1000"/>
              </a:spcAft>
              <a:defRPr sz="2000">
                <a:solidFill>
                  <a:srgbClr val="333333"/>
                </a:solidFill>
                <a:latin typeface="Arial"/>
              </a:defRPr>
            </a:pPr>
            <a:r>
              <a:t>• Strategic Policy Recommendations</a:t>
            </a:r>
          </a:p>
          <a:p>
            <a:pPr algn="l">
              <a:spcAft>
                <a:spcPts val="1000"/>
              </a:spcAft>
              <a:defRPr sz="2000">
                <a:solidFill>
                  <a:srgbClr val="333333"/>
                </a:solidFill>
                <a:latin typeface="Arial"/>
              </a:defRPr>
            </a:pPr>
            <a:r>
              <a:t>• Synthesis of Key Conclusions &amp; Lessons</a:t>
            </a:r>
          </a:p>
        </p:txBody>
      </p:sp>
      <p:sp>
        <p:nvSpPr>
          <p:cNvPr id="6" name="Rounded Rectangle 5"/>
          <p:cNvSpPr/>
          <p:nvPr/>
        </p:nvSpPr>
        <p:spPr>
          <a:xfrm>
            <a:off x="7315200" y="1645920"/>
            <a:ext cx="4114800" cy="5943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Phase 1: Case Strategic Context &amp; ...</a:t>
            </a:r>
          </a:p>
        </p:txBody>
      </p:sp>
      <p:sp>
        <p:nvSpPr>
          <p:cNvPr id="7" name="Rounded Rectangle 6"/>
          <p:cNvSpPr/>
          <p:nvPr/>
        </p:nvSpPr>
        <p:spPr>
          <a:xfrm>
            <a:off x="7315200" y="2377440"/>
            <a:ext cx="4114800" cy="594360"/>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Phase 2: The WMI Vision &amp; Expertis...</a:t>
            </a:r>
          </a:p>
        </p:txBody>
      </p:sp>
      <p:sp>
        <p:nvSpPr>
          <p:cNvPr id="8" name="Rounded Rectangle 7"/>
          <p:cNvSpPr/>
          <p:nvPr/>
        </p:nvSpPr>
        <p:spPr>
          <a:xfrm>
            <a:off x="7315200" y="3108960"/>
            <a:ext cx="4114800" cy="5943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Phase 3: Key Stakeholder Dynamics ...</a:t>
            </a:r>
          </a:p>
        </p:txBody>
      </p:sp>
      <p:sp>
        <p:nvSpPr>
          <p:cNvPr id="9" name="Rounded Rectangle 8"/>
          <p:cNvSpPr/>
          <p:nvPr/>
        </p:nvSpPr>
        <p:spPr>
          <a:xfrm>
            <a:off x="7315200" y="3840480"/>
            <a:ext cx="4114800" cy="594360"/>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Phase 4: Comprehensive Quantitativ...</a:t>
            </a:r>
          </a:p>
        </p:txBody>
      </p:sp>
      <p:sp>
        <p:nvSpPr>
          <p:cNvPr id="10" name="Rounded Rectangle 9"/>
          <p:cNvSpPr/>
          <p:nvPr/>
        </p:nvSpPr>
        <p:spPr>
          <a:xfrm>
            <a:off x="7315200" y="4572000"/>
            <a:ext cx="4114800" cy="5943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Phase 5: Strategic Policy Recommen...</a:t>
            </a:r>
          </a:p>
        </p:txBody>
      </p:sp>
      <p:sp>
        <p:nvSpPr>
          <p:cNvPr id="11" name="Rounded Rectangle 10"/>
          <p:cNvSpPr/>
          <p:nvPr/>
        </p:nvSpPr>
        <p:spPr>
          <a:xfrm>
            <a:off x="7315200" y="5303520"/>
            <a:ext cx="4114800" cy="594360"/>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Phase 6: Synthesis of Key Conclusi...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731520"/>
          </a:xfrm>
          <a:prstGeom prst="rect">
            <a:avLst/>
          </a:prstGeom>
          <a:noFill/>
        </p:spPr>
        <p:txBody>
          <a:bodyPr wrap="square">
            <a:spAutoFit/>
          </a:bodyPr>
          <a:lstStyle/>
          <a:p>
            <a:pPr algn="ctr">
              <a:defRPr sz="3600" b="1">
                <a:solidFill>
                  <a:srgbClr val="0A2540"/>
                </a:solidFill>
                <a:latin typeface="Arial"/>
              </a:defRPr>
            </a:pPr>
            <a:r>
              <a:t>Strategic Context: The GIE Vision</a:t>
            </a:r>
          </a:p>
        </p:txBody>
      </p:sp>
      <p:sp>
        <p:nvSpPr>
          <p:cNvPr id="4" name="TextBox 3"/>
          <p:cNvSpPr txBox="1"/>
          <p:nvPr/>
        </p:nvSpPr>
        <p:spPr>
          <a:xfrm>
            <a:off x="457200" y="6492240"/>
            <a:ext cx="11277295" cy="274320"/>
          </a:xfrm>
          <a:prstGeom prst="rect">
            <a:avLst/>
          </a:prstGeom>
          <a:noFill/>
        </p:spPr>
        <p:txBody>
          <a:bodyPr wrap="none">
            <a:spAutoFit/>
          </a:bodyPr>
          <a:lstStyle/>
          <a:p>
            <a:pPr algn="r">
              <a:defRPr sz="1000" i="1">
                <a:solidFill>
                  <a:srgbClr val="808080"/>
                </a:solidFill>
                <a:latin typeface="Arial"/>
              </a:defRPr>
            </a:pPr>
            <a:r>
              <a:t>Boudreau, J. W. (2010). IBM's Global Talent Management Strategy. SHRM.</a:t>
            </a:r>
          </a:p>
        </p:txBody>
      </p:sp>
      <p:sp>
        <p:nvSpPr>
          <p:cNvPr id="5" name="TextBox 4"/>
          <p:cNvSpPr txBox="1"/>
          <p:nvPr/>
        </p:nvSpPr>
        <p:spPr>
          <a:xfrm>
            <a:off x="731520" y="1645920"/>
            <a:ext cx="6217920" cy="4114800"/>
          </a:xfrm>
          <a:prstGeom prst="rect">
            <a:avLst/>
          </a:prstGeom>
          <a:noFill/>
        </p:spPr>
        <p:txBody>
          <a:bodyPr wrap="square">
            <a:spAutoFit/>
          </a:bodyPr>
          <a:lstStyle/>
          <a:p>
            <a:pPr algn="l">
              <a:spcAft>
                <a:spcPts val="1000"/>
              </a:spcAft>
              <a:defRPr sz="1800">
                <a:solidFill>
                  <a:srgbClr val="333333"/>
                </a:solidFill>
                <a:latin typeface="Arial"/>
              </a:defRPr>
            </a:pPr>
            <a:r>
              <a:t>• Sam Palmisano's Globally Integrated Enterprise (GIE) vision</a:t>
            </a:r>
          </a:p>
          <a:p>
            <a:pPr algn="l">
              <a:spcAft>
                <a:spcPts val="1000"/>
              </a:spcAft>
              <a:defRPr sz="1800">
                <a:solidFill>
                  <a:srgbClr val="333333"/>
                </a:solidFill>
                <a:latin typeface="Arial"/>
              </a:defRPr>
            </a:pPr>
            <a:r>
              <a:t>• Operations organized globally, ignoring local national boundaries</a:t>
            </a:r>
          </a:p>
          <a:p>
            <a:pPr algn="l">
              <a:spcAft>
                <a:spcPts val="1000"/>
              </a:spcAft>
              <a:defRPr sz="1800">
                <a:solidFill>
                  <a:srgbClr val="333333"/>
                </a:solidFill>
                <a:latin typeface="Arial"/>
              </a:defRPr>
            </a:pPr>
            <a:r>
              <a:t>• Work performed where skills and costs are optimal</a:t>
            </a:r>
          </a:p>
          <a:p>
            <a:pPr algn="l">
              <a:spcAft>
                <a:spcPts val="1000"/>
              </a:spcAft>
              <a:defRPr sz="1800">
                <a:solidFill>
                  <a:srgbClr val="333333"/>
                </a:solidFill>
                <a:latin typeface="Arial"/>
              </a:defRPr>
            </a:pPr>
            <a:r>
              <a:t>• Human capital is the primary competitive advantage</a:t>
            </a:r>
          </a:p>
          <a:p>
            <a:pPr algn="l">
              <a:spcAft>
                <a:spcPts val="1000"/>
              </a:spcAft>
              <a:defRPr sz="1800">
                <a:solidFill>
                  <a:srgbClr val="333333"/>
                </a:solidFill>
                <a:latin typeface="Arial"/>
              </a:defRPr>
            </a:pPr>
            <a:r>
              <a:t>• Enterprise scope: 350k employees and 90k contractors</a:t>
            </a:r>
          </a:p>
          <a:p>
            <a:pPr algn="l">
              <a:spcAft>
                <a:spcPts val="1000"/>
              </a:spcAft>
              <a:defRPr sz="1800">
                <a:solidFill>
                  <a:srgbClr val="333333"/>
                </a:solidFill>
                <a:latin typeface="Arial"/>
              </a:defRPr>
            </a:pPr>
            <a:r>
              <a:t>• Revenue target: 70% from outside Americas by 2009</a:t>
            </a:r>
          </a:p>
        </p:txBody>
      </p:sp>
      <p:sp>
        <p:nvSpPr>
          <p:cNvPr id="6" name="Rounded Rectangle 5"/>
          <p:cNvSpPr/>
          <p:nvPr/>
        </p:nvSpPr>
        <p:spPr>
          <a:xfrm>
            <a:off x="7498079" y="2011680"/>
            <a:ext cx="3931920" cy="3200400"/>
          </a:xfrm>
          <a:prstGeom prst="roundRect">
            <a:avLst/>
          </a:prstGeom>
          <a:solidFill>
            <a:srgbClr val="F5F7FA"/>
          </a:solidFill>
          <a:ln w="381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0" b="1">
                <a:solidFill>
                  <a:srgbClr val="0066CC"/>
                </a:solidFill>
                <a:latin typeface="Arial"/>
              </a:defRPr>
            </a:pPr>
            <a:r>
              <a:t>70%</a:t>
            </a:r>
          </a:p>
          <a:p>
            <a:pPr algn="ctr">
              <a:defRPr sz="1600" b="1">
                <a:solidFill>
                  <a:srgbClr val="0A2540"/>
                </a:solidFill>
                <a:latin typeface="Arial"/>
              </a:defRPr>
            </a:pPr>
            <a:r>
              <a:t>Target Revenue Outside Americas</a:t>
            </a:r>
            <a:br/>
            <a:br/>
            <a:r>
              <a:t>Strategic Goal:</a:t>
            </a:r>
            <a:br/>
            <a:r>
              <a:t>"Right tasks, with the right skills, in the right places."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731520"/>
          </a:xfrm>
          <a:prstGeom prst="rect">
            <a:avLst/>
          </a:prstGeom>
          <a:noFill/>
        </p:spPr>
        <p:txBody>
          <a:bodyPr wrap="square">
            <a:spAutoFit/>
          </a:bodyPr>
          <a:lstStyle/>
          <a:p>
            <a:pPr algn="ctr">
              <a:defRPr sz="3600" b="1">
                <a:solidFill>
                  <a:srgbClr val="0A2540"/>
                </a:solidFill>
                <a:latin typeface="Arial"/>
              </a:defRPr>
            </a:pPr>
            <a:r>
              <a:t>Urgent Drivers for Change</a:t>
            </a:r>
          </a:p>
        </p:txBody>
      </p:sp>
      <p:sp>
        <p:nvSpPr>
          <p:cNvPr id="4" name="TextBox 3"/>
          <p:cNvSpPr txBox="1"/>
          <p:nvPr/>
        </p:nvSpPr>
        <p:spPr>
          <a:xfrm>
            <a:off x="457200" y="6492240"/>
            <a:ext cx="11277295" cy="274320"/>
          </a:xfrm>
          <a:prstGeom prst="rect">
            <a:avLst/>
          </a:prstGeom>
          <a:noFill/>
        </p:spPr>
        <p:txBody>
          <a:bodyPr wrap="none">
            <a:spAutoFit/>
          </a:bodyPr>
          <a:lstStyle/>
          <a:p>
            <a:pPr algn="r">
              <a:defRPr sz="1000" i="1">
                <a:solidFill>
                  <a:srgbClr val="808080"/>
                </a:solidFill>
                <a:latin typeface="Arial"/>
              </a:defRPr>
            </a:pPr>
            <a:r>
              <a:t>Boudreau, J. W. (2010). IBM's Global Talent Management Strategy. SHRM.</a:t>
            </a:r>
          </a:p>
        </p:txBody>
      </p:sp>
      <p:sp>
        <p:nvSpPr>
          <p:cNvPr id="5" name="TextBox 4"/>
          <p:cNvSpPr txBox="1"/>
          <p:nvPr/>
        </p:nvSpPr>
        <p:spPr>
          <a:xfrm>
            <a:off x="731520" y="1645920"/>
            <a:ext cx="6217920" cy="4114800"/>
          </a:xfrm>
          <a:prstGeom prst="rect">
            <a:avLst/>
          </a:prstGeom>
          <a:noFill/>
        </p:spPr>
        <p:txBody>
          <a:bodyPr wrap="square">
            <a:spAutoFit/>
          </a:bodyPr>
          <a:lstStyle/>
          <a:p>
            <a:pPr algn="l">
              <a:spcAft>
                <a:spcPts val="1000"/>
              </a:spcAft>
              <a:defRPr sz="1800">
                <a:solidFill>
                  <a:srgbClr val="333333"/>
                </a:solidFill>
                <a:latin typeface="Arial"/>
              </a:defRPr>
            </a:pPr>
            <a:r>
              <a:t>• Inability to match regional talent supply with demand</a:t>
            </a:r>
          </a:p>
          <a:p>
            <a:pPr algn="l">
              <a:spcAft>
                <a:spcPts val="1000"/>
              </a:spcAft>
              <a:defRPr sz="1800">
                <a:solidFill>
                  <a:srgbClr val="333333"/>
                </a:solidFill>
                <a:latin typeface="Arial"/>
              </a:defRPr>
            </a:pPr>
            <a:r>
              <a:t>• Consulting 'bench times' and delayed client projects</a:t>
            </a:r>
          </a:p>
          <a:p>
            <a:pPr algn="l">
              <a:spcAft>
                <a:spcPts val="1000"/>
              </a:spcAft>
              <a:defRPr sz="1800">
                <a:solidFill>
                  <a:srgbClr val="333333"/>
                </a:solidFill>
                <a:latin typeface="Arial"/>
              </a:defRPr>
            </a:pPr>
            <a:r>
              <a:t>• Siloed, disconnected employee and contractor pools</a:t>
            </a:r>
          </a:p>
          <a:p>
            <a:pPr algn="l">
              <a:spcAft>
                <a:spcPts val="1000"/>
              </a:spcAft>
              <a:defRPr sz="1800">
                <a:solidFill>
                  <a:srgbClr val="333333"/>
                </a:solidFill>
                <a:latin typeface="Arial"/>
              </a:defRPr>
            </a:pPr>
            <a:r>
              <a:t>• Information gap in comparing skills across countries</a:t>
            </a:r>
          </a:p>
          <a:p>
            <a:pPr algn="l">
              <a:spcAft>
                <a:spcPts val="1000"/>
              </a:spcAft>
              <a:defRPr sz="1800">
                <a:solidFill>
                  <a:srgbClr val="333333"/>
                </a:solidFill>
                <a:latin typeface="Arial"/>
              </a:defRPr>
            </a:pPr>
            <a:r>
              <a:t>• Over-reliance on informal, local personal networks</a:t>
            </a:r>
          </a:p>
          <a:p>
            <a:pPr algn="l">
              <a:spcAft>
                <a:spcPts val="1000"/>
              </a:spcAft>
              <a:defRPr sz="1800">
                <a:solidFill>
                  <a:srgbClr val="333333"/>
                </a:solidFill>
                <a:latin typeface="Arial"/>
              </a:defRPr>
            </a:pPr>
            <a:r>
              <a:t>• Inefficient external contractor recruitment and costs</a:t>
            </a:r>
          </a:p>
        </p:txBody>
      </p:sp>
      <p:sp>
        <p:nvSpPr>
          <p:cNvPr id="6" name="Rounded Rectangle 5"/>
          <p:cNvSpPr/>
          <p:nvPr/>
        </p:nvSpPr>
        <p:spPr>
          <a:xfrm>
            <a:off x="7498079" y="2011680"/>
            <a:ext cx="3931920" cy="3200400"/>
          </a:xfrm>
          <a:prstGeom prst="roundRect">
            <a:avLst/>
          </a:prstGeom>
          <a:solidFill>
            <a:srgbClr val="F5F7FA"/>
          </a:solidFill>
          <a:ln w="381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2800" b="1">
                <a:solidFill>
                  <a:srgbClr val="CC0000"/>
                </a:solidFill>
                <a:latin typeface="Arial"/>
              </a:defRPr>
            </a:pPr>
            <a:r>
              <a:t>LEGACY SILOS</a:t>
            </a:r>
          </a:p>
          <a:p>
            <a:pPr algn="l">
              <a:spcBef>
                <a:spcPts val="1200"/>
              </a:spcBef>
              <a:defRPr sz="1800">
                <a:solidFill>
                  <a:srgbClr val="333333"/>
                </a:solidFill>
                <a:latin typeface="Arial"/>
              </a:defRPr>
            </a:pPr>
            <a:r>
              <a:t>• Disjointed country databases</a:t>
            </a:r>
            <a:br/>
            <a:r>
              <a:t>• High cost of bench employees</a:t>
            </a:r>
            <a:br/>
            <a:r>
              <a:t>• Duplicate hiring expenses</a:t>
            </a:r>
            <a:br/>
            <a:r>
              <a:t>• Zero global visibility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731520"/>
          </a:xfrm>
          <a:prstGeom prst="rect">
            <a:avLst/>
          </a:prstGeom>
          <a:noFill/>
        </p:spPr>
        <p:txBody>
          <a:bodyPr wrap="square">
            <a:spAutoFit/>
          </a:bodyPr>
          <a:lstStyle/>
          <a:p>
            <a:pPr algn="ctr">
              <a:defRPr sz="3600" b="1">
                <a:solidFill>
                  <a:srgbClr val="0A2540"/>
                </a:solidFill>
                <a:latin typeface="Arial"/>
              </a:defRPr>
            </a:pPr>
            <a:r>
              <a:t>WMI &amp; The Expertise Taxonomy</a:t>
            </a:r>
          </a:p>
        </p:txBody>
      </p:sp>
      <p:sp>
        <p:nvSpPr>
          <p:cNvPr id="4" name="TextBox 3"/>
          <p:cNvSpPr txBox="1"/>
          <p:nvPr/>
        </p:nvSpPr>
        <p:spPr>
          <a:xfrm>
            <a:off x="457200" y="6492240"/>
            <a:ext cx="11277295" cy="274320"/>
          </a:xfrm>
          <a:prstGeom prst="rect">
            <a:avLst/>
          </a:prstGeom>
          <a:noFill/>
        </p:spPr>
        <p:txBody>
          <a:bodyPr wrap="none">
            <a:spAutoFit/>
          </a:bodyPr>
          <a:lstStyle/>
          <a:p>
            <a:pPr algn="r">
              <a:defRPr sz="1000" i="1">
                <a:solidFill>
                  <a:srgbClr val="808080"/>
                </a:solidFill>
                <a:latin typeface="Arial"/>
              </a:defRPr>
            </a:pPr>
            <a:r>
              <a:t>Boudreau, J. W. (2010). IBM's Global Talent Management Strategy. SHRM.</a:t>
            </a:r>
          </a:p>
        </p:txBody>
      </p:sp>
      <p:sp>
        <p:nvSpPr>
          <p:cNvPr id="5" name="TextBox 4"/>
          <p:cNvSpPr txBox="1"/>
          <p:nvPr/>
        </p:nvSpPr>
        <p:spPr>
          <a:xfrm>
            <a:off x="731520" y="1645920"/>
            <a:ext cx="5669280" cy="4114800"/>
          </a:xfrm>
          <a:prstGeom prst="rect">
            <a:avLst/>
          </a:prstGeom>
          <a:noFill/>
        </p:spPr>
        <p:txBody>
          <a:bodyPr wrap="square">
            <a:spAutoFit/>
          </a:bodyPr>
          <a:lstStyle/>
          <a:p>
            <a:pPr algn="l">
              <a:spcAft>
                <a:spcPts val="1000"/>
              </a:spcAft>
              <a:defRPr sz="1800">
                <a:solidFill>
                  <a:srgbClr val="333333"/>
                </a:solidFill>
                <a:latin typeface="Arial"/>
              </a:defRPr>
            </a:pPr>
            <a:r>
              <a:t>• Workforce Management Initiative (WMI) launched</a:t>
            </a:r>
          </a:p>
          <a:p>
            <a:pPr algn="l">
              <a:spcAft>
                <a:spcPts val="1000"/>
              </a:spcAft>
              <a:defRPr sz="1800">
                <a:solidFill>
                  <a:srgbClr val="333333"/>
                </a:solidFill>
                <a:latin typeface="Arial"/>
              </a:defRPr>
            </a:pPr>
            <a:r>
              <a:t>• Aims to build a data-driven talent supply chain</a:t>
            </a:r>
          </a:p>
          <a:p>
            <a:pPr algn="l">
              <a:spcAft>
                <a:spcPts val="1000"/>
              </a:spcAft>
              <a:defRPr sz="1800">
                <a:solidFill>
                  <a:srgbClr val="333333"/>
                </a:solidFill>
                <a:latin typeface="Arial"/>
              </a:defRPr>
            </a:pPr>
            <a:r>
              <a:t>• Centralized global language for skills and roles</a:t>
            </a:r>
          </a:p>
          <a:p>
            <a:pPr algn="l">
              <a:spcAft>
                <a:spcPts val="1000"/>
              </a:spcAft>
              <a:defRPr sz="1800">
                <a:solidFill>
                  <a:srgbClr val="333333"/>
                </a:solidFill>
                <a:latin typeface="Arial"/>
              </a:defRPr>
            </a:pPr>
            <a:r>
              <a:t>• Five-level hierarchical taxonomy structure</a:t>
            </a:r>
          </a:p>
          <a:p>
            <a:pPr algn="l">
              <a:spcAft>
                <a:spcPts val="1000"/>
              </a:spcAft>
              <a:defRPr sz="1800">
                <a:solidFill>
                  <a:srgbClr val="333333"/>
                </a:solidFill>
                <a:latin typeface="Arial"/>
              </a:defRPr>
            </a:pPr>
            <a:r>
              <a:t>• Applied standard categorization globally</a:t>
            </a:r>
          </a:p>
          <a:p>
            <a:pPr algn="l">
              <a:spcAft>
                <a:spcPts val="1000"/>
              </a:spcAft>
              <a:defRPr sz="1800">
                <a:solidFill>
                  <a:srgbClr val="333333"/>
                </a:solidFill>
                <a:latin typeface="Arial"/>
              </a:defRPr>
            </a:pPr>
            <a:r>
              <a:t>• Integrates 440,000+ total global workers</a:t>
            </a:r>
          </a:p>
        </p:txBody>
      </p:sp>
      <p:sp>
        <p:nvSpPr>
          <p:cNvPr id="6" name="Rectangle 5"/>
          <p:cNvSpPr/>
          <p:nvPr/>
        </p:nvSpPr>
        <p:spPr>
          <a:xfrm>
            <a:off x="7315200" y="1828800"/>
            <a:ext cx="4389120" cy="59436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1. Primary Job Category (PJC)</a:t>
            </a:r>
          </a:p>
        </p:txBody>
      </p:sp>
      <p:sp>
        <p:nvSpPr>
          <p:cNvPr id="7" name="Rectangle 6"/>
          <p:cNvSpPr/>
          <p:nvPr/>
        </p:nvSpPr>
        <p:spPr>
          <a:xfrm>
            <a:off x="7543800" y="2560320"/>
            <a:ext cx="3931920" cy="5943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2. Secondary Job Category (SJC)</a:t>
            </a:r>
          </a:p>
        </p:txBody>
      </p:sp>
      <p:sp>
        <p:nvSpPr>
          <p:cNvPr id="8" name="Rectangle 7"/>
          <p:cNvSpPr/>
          <p:nvPr/>
        </p:nvSpPr>
        <p:spPr>
          <a:xfrm>
            <a:off x="7772400" y="3291840"/>
            <a:ext cx="3474720" cy="59436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3. Job Role (JR)</a:t>
            </a:r>
          </a:p>
        </p:txBody>
      </p:sp>
      <p:sp>
        <p:nvSpPr>
          <p:cNvPr id="9" name="Rectangle 8"/>
          <p:cNvSpPr/>
          <p:nvPr/>
        </p:nvSpPr>
        <p:spPr>
          <a:xfrm>
            <a:off x="8001000" y="4023360"/>
            <a:ext cx="3017520" cy="5943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4. Job Role Skill Set (JRSS)</a:t>
            </a:r>
          </a:p>
        </p:txBody>
      </p:sp>
      <p:sp>
        <p:nvSpPr>
          <p:cNvPr id="10" name="Rectangle 9"/>
          <p:cNvSpPr/>
          <p:nvPr/>
        </p:nvSpPr>
        <p:spPr>
          <a:xfrm>
            <a:off x="8229600" y="4754880"/>
            <a:ext cx="2560320" cy="59436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5. Skills (Atomic capability)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731520"/>
          </a:xfrm>
          <a:prstGeom prst="rect">
            <a:avLst/>
          </a:prstGeom>
          <a:noFill/>
        </p:spPr>
        <p:txBody>
          <a:bodyPr wrap="square">
            <a:spAutoFit/>
          </a:bodyPr>
          <a:lstStyle/>
          <a:p>
            <a:pPr algn="ctr">
              <a:defRPr sz="3600" b="1">
                <a:solidFill>
                  <a:srgbClr val="0A2540"/>
                </a:solidFill>
                <a:latin typeface="Arial"/>
              </a:defRPr>
            </a:pPr>
            <a:r>
              <a:t>Replacing Obsolete HR Frameworks</a:t>
            </a:r>
          </a:p>
        </p:txBody>
      </p:sp>
      <p:sp>
        <p:nvSpPr>
          <p:cNvPr id="4" name="TextBox 3"/>
          <p:cNvSpPr txBox="1"/>
          <p:nvPr/>
        </p:nvSpPr>
        <p:spPr>
          <a:xfrm>
            <a:off x="457200" y="6492240"/>
            <a:ext cx="11277295" cy="274320"/>
          </a:xfrm>
          <a:prstGeom prst="rect">
            <a:avLst/>
          </a:prstGeom>
          <a:noFill/>
        </p:spPr>
        <p:txBody>
          <a:bodyPr wrap="none">
            <a:spAutoFit/>
          </a:bodyPr>
          <a:lstStyle/>
          <a:p>
            <a:pPr algn="r">
              <a:defRPr sz="1000" i="1">
                <a:solidFill>
                  <a:srgbClr val="808080"/>
                </a:solidFill>
                <a:latin typeface="Arial"/>
              </a:defRPr>
            </a:pPr>
            <a:r>
              <a:t>Boudreau, J. W. (2010). IBM's Global Talent Management Strategy. SHRM.</a:t>
            </a:r>
          </a:p>
        </p:txBody>
      </p:sp>
      <p:sp>
        <p:nvSpPr>
          <p:cNvPr id="5" name="TextBox 4"/>
          <p:cNvSpPr txBox="1"/>
          <p:nvPr/>
        </p:nvSpPr>
        <p:spPr>
          <a:xfrm>
            <a:off x="731520" y="1645920"/>
            <a:ext cx="5943600" cy="4114800"/>
          </a:xfrm>
          <a:prstGeom prst="rect">
            <a:avLst/>
          </a:prstGeom>
          <a:noFill/>
        </p:spPr>
        <p:txBody>
          <a:bodyPr wrap="square">
            <a:spAutoFit/>
          </a:bodyPr>
          <a:lstStyle/>
          <a:p>
            <a:pPr algn="l">
              <a:spcAft>
                <a:spcPts val="1000"/>
              </a:spcAft>
              <a:defRPr sz="1800">
                <a:solidFill>
                  <a:srgbClr val="333333"/>
                </a:solidFill>
                <a:latin typeface="Arial"/>
              </a:defRPr>
            </a:pPr>
            <a:r>
              <a:t>• Localized, unstructured job descriptions retired</a:t>
            </a:r>
          </a:p>
          <a:p>
            <a:pPr algn="l">
              <a:spcAft>
                <a:spcPts val="1000"/>
              </a:spcAft>
              <a:defRPr sz="1800">
                <a:solidFill>
                  <a:srgbClr val="333333"/>
                </a:solidFill>
                <a:latin typeface="Arial"/>
              </a:defRPr>
            </a:pPr>
            <a:r>
              <a:t>• Skills linked directly to actual operational roles</a:t>
            </a:r>
          </a:p>
          <a:p>
            <a:pPr algn="l">
              <a:spcAft>
                <a:spcPts val="1000"/>
              </a:spcAft>
              <a:defRPr sz="1800">
                <a:solidFill>
                  <a:srgbClr val="333333"/>
                </a:solidFill>
                <a:latin typeface="Arial"/>
              </a:defRPr>
            </a:pPr>
            <a:r>
              <a:t>• Job roles consolidated: 650 roles to fewer than 300</a:t>
            </a:r>
          </a:p>
          <a:p>
            <a:pPr algn="l">
              <a:spcAft>
                <a:spcPts val="1000"/>
              </a:spcAft>
              <a:defRPr sz="1800">
                <a:solidFill>
                  <a:srgbClr val="333333"/>
                </a:solidFill>
                <a:latin typeface="Arial"/>
              </a:defRPr>
            </a:pPr>
            <a:r>
              <a:t>• Taxonomy Stewards: business-led, not top-down HR</a:t>
            </a:r>
          </a:p>
          <a:p>
            <a:pPr algn="l">
              <a:spcAft>
                <a:spcPts val="1000"/>
              </a:spcAft>
              <a:defRPr sz="1800">
                <a:solidFill>
                  <a:srgbClr val="333333"/>
                </a:solidFill>
                <a:latin typeface="Arial"/>
              </a:defRPr>
            </a:pPr>
            <a:r>
              <a:t>• Integrated over 40,000 digital learning assets</a:t>
            </a:r>
          </a:p>
          <a:p>
            <a:pPr algn="l">
              <a:spcAft>
                <a:spcPts val="1000"/>
              </a:spcAft>
              <a:defRPr sz="1800">
                <a:solidFill>
                  <a:srgbClr val="333333"/>
                </a:solidFill>
                <a:latin typeface="Arial"/>
              </a:defRPr>
            </a:pPr>
            <a:r>
              <a:t>• Just-in-time matching replaces personal networks</a:t>
            </a:r>
          </a:p>
        </p:txBody>
      </p:sp>
      <p:sp>
        <p:nvSpPr>
          <p:cNvPr id="6" name="Rounded Rectangle 5"/>
          <p:cNvSpPr/>
          <p:nvPr/>
        </p:nvSpPr>
        <p:spPr>
          <a:xfrm>
            <a:off x="7132320" y="2011680"/>
            <a:ext cx="2194560" cy="3200400"/>
          </a:xfrm>
          <a:prstGeom prst="roundRect">
            <a:avLst/>
          </a:prstGeom>
          <a:solidFill>
            <a:srgbClr val="F5F7FA"/>
          </a:solidFill>
          <a:ln w="254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CC0000"/>
                </a:solidFill>
              </a:defRPr>
            </a:pPr>
            <a:r>
              <a:t>OLD WAY</a:t>
            </a:r>
          </a:p>
          <a:p>
            <a:br/>
            <a:pPr>
              <a:defRPr sz="1400">
                <a:solidFill>
                  <a:srgbClr val="333333"/>
                </a:solidFill>
              </a:defRPr>
            </a:pPr>
            <a:r>
              <a:t>• Static descriptions</a:t>
            </a:r>
            <a:br/>
            <a:r>
              <a:t>• 650+ redundant roles</a:t>
            </a:r>
            <a:br/>
            <a:r>
              <a:t>• No learning link</a:t>
            </a:r>
            <a:br/>
            <a:r>
              <a:t>• Local networks only</a:t>
            </a:r>
          </a:p>
        </p:txBody>
      </p:sp>
      <p:sp>
        <p:nvSpPr>
          <p:cNvPr id="7" name="Rounded Rectangle 6"/>
          <p:cNvSpPr/>
          <p:nvPr/>
        </p:nvSpPr>
        <p:spPr>
          <a:xfrm>
            <a:off x="9509760" y="2011680"/>
            <a:ext cx="2194560" cy="3200400"/>
          </a:xfrm>
          <a:prstGeom prst="roundRect">
            <a:avLst/>
          </a:prstGeom>
          <a:solidFill>
            <a:srgbClr val="F5F7FA"/>
          </a:solidFill>
          <a:ln w="25400">
            <a:solidFill>
              <a:srgbClr val="0099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00994C"/>
                </a:solidFill>
              </a:defRPr>
            </a:pPr>
            <a:r>
              <a:t>WMI WAY</a:t>
            </a:r>
          </a:p>
          <a:p>
            <a:br/>
            <a:pPr>
              <a:defRPr sz="1400">
                <a:solidFill>
                  <a:srgbClr val="333333"/>
                </a:solidFill>
              </a:defRPr>
            </a:pPr>
            <a:r>
              <a:t>• Dynamic taxonomy</a:t>
            </a:r>
            <a:br/>
            <a:r>
              <a:t>• &lt;300 consolidated roles</a:t>
            </a:r>
            <a:br/>
            <a:r>
              <a:t>• 40k+ resources linked</a:t>
            </a:r>
            <a:br/>
            <a:r>
              <a:t>• Global marketplace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731520"/>
          </a:xfrm>
          <a:prstGeom prst="rect">
            <a:avLst/>
          </a:prstGeom>
          <a:noFill/>
        </p:spPr>
        <p:txBody>
          <a:bodyPr wrap="square">
            <a:spAutoFit/>
          </a:bodyPr>
          <a:lstStyle/>
          <a:p>
            <a:pPr algn="ctr">
              <a:defRPr sz="3600" b="1">
                <a:solidFill>
                  <a:srgbClr val="0A2540"/>
                </a:solidFill>
                <a:latin typeface="Arial"/>
              </a:defRPr>
            </a:pPr>
            <a:r>
              <a:t>Stakeholders: Senior HR &amp; Managers</a:t>
            </a:r>
          </a:p>
        </p:txBody>
      </p:sp>
      <p:sp>
        <p:nvSpPr>
          <p:cNvPr id="4" name="TextBox 3"/>
          <p:cNvSpPr txBox="1"/>
          <p:nvPr/>
        </p:nvSpPr>
        <p:spPr>
          <a:xfrm>
            <a:off x="457200" y="6492240"/>
            <a:ext cx="11277295" cy="274320"/>
          </a:xfrm>
          <a:prstGeom prst="rect">
            <a:avLst/>
          </a:prstGeom>
          <a:noFill/>
        </p:spPr>
        <p:txBody>
          <a:bodyPr wrap="none">
            <a:spAutoFit/>
          </a:bodyPr>
          <a:lstStyle/>
          <a:p>
            <a:pPr algn="r">
              <a:defRPr sz="1000" i="1">
                <a:solidFill>
                  <a:srgbClr val="808080"/>
                </a:solidFill>
                <a:latin typeface="Arial"/>
              </a:defRPr>
            </a:pPr>
            <a:r>
              <a:t>Boudreau, J. W. (2010). IBM's Global Talent Management Strategy. SHRM.</a:t>
            </a:r>
          </a:p>
        </p:txBody>
      </p:sp>
      <p:sp>
        <p:nvSpPr>
          <p:cNvPr id="5" name="TextBox 4"/>
          <p:cNvSpPr txBox="1"/>
          <p:nvPr/>
        </p:nvSpPr>
        <p:spPr>
          <a:xfrm>
            <a:off x="731520" y="1645920"/>
            <a:ext cx="6217920" cy="4114800"/>
          </a:xfrm>
          <a:prstGeom prst="rect">
            <a:avLst/>
          </a:prstGeom>
          <a:noFill/>
        </p:spPr>
        <p:txBody>
          <a:bodyPr wrap="square">
            <a:spAutoFit/>
          </a:bodyPr>
          <a:lstStyle/>
          <a:p>
            <a:pPr algn="l">
              <a:spcAft>
                <a:spcPts val="1000"/>
              </a:spcAft>
              <a:defRPr sz="1800">
                <a:solidFill>
                  <a:srgbClr val="333333"/>
                </a:solidFill>
                <a:latin typeface="Arial"/>
              </a:defRPr>
            </a:pPr>
            <a:r>
              <a:t>• Senior HR: Strategic partner instead of admin cost-center</a:t>
            </a:r>
          </a:p>
          <a:p>
            <a:pPr algn="l">
              <a:spcAft>
                <a:spcPts val="1000"/>
              </a:spcAft>
              <a:defRPr sz="1800">
                <a:solidFill>
                  <a:srgbClr val="333333"/>
                </a:solidFill>
                <a:latin typeface="Arial"/>
              </a:defRPr>
            </a:pPr>
            <a:r>
              <a:t>• HR goals: Global standardization and measurable ROI</a:t>
            </a:r>
          </a:p>
          <a:p>
            <a:pPr algn="l">
              <a:spcAft>
                <a:spcPts val="1000"/>
              </a:spcAft>
              <a:defRPr sz="1800">
                <a:solidFill>
                  <a:srgbClr val="333333"/>
                </a:solidFill>
                <a:latin typeface="Arial"/>
              </a:defRPr>
            </a:pPr>
            <a:r>
              <a:t>• Line Managers: Focus on delivery and project success</a:t>
            </a:r>
          </a:p>
          <a:p>
            <a:pPr algn="l">
              <a:spcAft>
                <a:spcPts val="1000"/>
              </a:spcAft>
              <a:defRPr sz="1800">
                <a:solidFill>
                  <a:srgbClr val="333333"/>
                </a:solidFill>
                <a:latin typeface="Arial"/>
              </a:defRPr>
            </a:pPr>
            <a:r>
              <a:t>• Tension: Central control versus regional autonomy</a:t>
            </a:r>
          </a:p>
          <a:p>
            <a:pPr algn="l">
              <a:spcAft>
                <a:spcPts val="1000"/>
              </a:spcAft>
              <a:defRPr sz="1800">
                <a:solidFill>
                  <a:srgbClr val="333333"/>
                </a:solidFill>
                <a:latin typeface="Arial"/>
              </a:defRPr>
            </a:pPr>
            <a:r>
              <a:t>• Resolution: The 'dual-hatting' organizational model</a:t>
            </a:r>
          </a:p>
          <a:p>
            <a:pPr algn="l">
              <a:spcAft>
                <a:spcPts val="1000"/>
              </a:spcAft>
              <a:defRPr sz="1800">
                <a:solidFill>
                  <a:srgbClr val="333333"/>
                </a:solidFill>
                <a:latin typeface="Arial"/>
              </a:defRPr>
            </a:pPr>
            <a:r>
              <a:t>• Result: Real-time decision-supporting manager portals</a:t>
            </a:r>
          </a:p>
        </p:txBody>
      </p:sp>
      <p:sp>
        <p:nvSpPr>
          <p:cNvPr id="6" name="Chevron 5"/>
          <p:cNvSpPr/>
          <p:nvPr/>
        </p:nvSpPr>
        <p:spPr>
          <a:xfrm>
            <a:off x="7498079" y="2011680"/>
            <a:ext cx="3931920" cy="1188720"/>
          </a:xfrm>
          <a:prstGeom prst="chevron">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FFFFFF"/>
                </a:solidFill>
              </a:defRPr>
            </a:pPr>
            <a:r>
              <a:t>SENIOR HR GOAL</a:t>
            </a:r>
            <a:br/>
            <a:r>
              <a:t>Global Standards &amp; ROI</a:t>
            </a:r>
          </a:p>
        </p:txBody>
      </p:sp>
      <p:sp>
        <p:nvSpPr>
          <p:cNvPr id="7" name="Chevron 6"/>
          <p:cNvSpPr/>
          <p:nvPr/>
        </p:nvSpPr>
        <p:spPr>
          <a:xfrm>
            <a:off x="7498079" y="3474720"/>
            <a:ext cx="3931920" cy="1188720"/>
          </a:xfrm>
          <a:prstGeom prst="chevron">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FFFFFF"/>
                </a:solidFill>
              </a:defRPr>
            </a:pPr>
            <a:r>
              <a:t>LINE MANAGER GOAL</a:t>
            </a:r>
            <a:br/>
            <a:r>
              <a:t>Rapid Project Staffing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731520"/>
          </a:xfrm>
          <a:prstGeom prst="rect">
            <a:avLst/>
          </a:prstGeom>
          <a:noFill/>
        </p:spPr>
        <p:txBody>
          <a:bodyPr wrap="square">
            <a:spAutoFit/>
          </a:bodyPr>
          <a:lstStyle/>
          <a:p>
            <a:pPr algn="ctr">
              <a:defRPr sz="3600" b="1">
                <a:solidFill>
                  <a:srgbClr val="0A2540"/>
                </a:solidFill>
                <a:latin typeface="Arial"/>
              </a:defRPr>
            </a:pPr>
            <a:r>
              <a:t>Stakeholders: Workers &amp; Vendors</a:t>
            </a:r>
          </a:p>
        </p:txBody>
      </p:sp>
      <p:sp>
        <p:nvSpPr>
          <p:cNvPr id="4" name="TextBox 3"/>
          <p:cNvSpPr txBox="1"/>
          <p:nvPr/>
        </p:nvSpPr>
        <p:spPr>
          <a:xfrm>
            <a:off x="457200" y="6492240"/>
            <a:ext cx="11277295" cy="274320"/>
          </a:xfrm>
          <a:prstGeom prst="rect">
            <a:avLst/>
          </a:prstGeom>
          <a:noFill/>
        </p:spPr>
        <p:txBody>
          <a:bodyPr wrap="none">
            <a:spAutoFit/>
          </a:bodyPr>
          <a:lstStyle/>
          <a:p>
            <a:pPr algn="r">
              <a:defRPr sz="1000" i="1">
                <a:solidFill>
                  <a:srgbClr val="808080"/>
                </a:solidFill>
                <a:latin typeface="Arial"/>
              </a:defRPr>
            </a:pPr>
            <a:r>
              <a:t>Boudreau, J. W. (2010). IBM's Global Talent Management Strategy. SHRM.</a:t>
            </a:r>
          </a:p>
        </p:txBody>
      </p:sp>
      <p:sp>
        <p:nvSpPr>
          <p:cNvPr id="5" name="TextBox 4"/>
          <p:cNvSpPr txBox="1"/>
          <p:nvPr/>
        </p:nvSpPr>
        <p:spPr>
          <a:xfrm>
            <a:off x="731520" y="1645920"/>
            <a:ext cx="6217920" cy="4114800"/>
          </a:xfrm>
          <a:prstGeom prst="rect">
            <a:avLst/>
          </a:prstGeom>
          <a:noFill/>
        </p:spPr>
        <p:txBody>
          <a:bodyPr wrap="square">
            <a:spAutoFit/>
          </a:bodyPr>
          <a:lstStyle/>
          <a:p>
            <a:pPr algn="l">
              <a:spcAft>
                <a:spcPts val="1000"/>
              </a:spcAft>
              <a:defRPr sz="1800">
                <a:solidFill>
                  <a:srgbClr val="333333"/>
                </a:solidFill>
                <a:latin typeface="Arial"/>
              </a:defRPr>
            </a:pPr>
            <a:r>
              <a:t>• Employees: Value career visibility and training</a:t>
            </a:r>
          </a:p>
          <a:p>
            <a:pPr algn="l">
              <a:spcAft>
                <a:spcPts val="1000"/>
              </a:spcAft>
              <a:defRPr sz="1800">
                <a:solidFill>
                  <a:srgbClr val="333333"/>
                </a:solidFill>
                <a:latin typeface="Arial"/>
              </a:defRPr>
            </a:pPr>
            <a:r>
              <a:t>• Anxiety: Fear of being commoditized as barcodes</a:t>
            </a:r>
          </a:p>
          <a:p>
            <a:pPr algn="l">
              <a:spcAft>
                <a:spcPts val="1000"/>
              </a:spcAft>
              <a:defRPr sz="1800">
                <a:solidFill>
                  <a:srgbClr val="333333"/>
                </a:solidFill>
                <a:latin typeface="Arial"/>
              </a:defRPr>
            </a:pPr>
            <a:r>
              <a:t>• Contractors: Sourcing integrated into WMI market</a:t>
            </a:r>
          </a:p>
          <a:p>
            <a:pPr algn="l">
              <a:spcAft>
                <a:spcPts val="1000"/>
              </a:spcAft>
              <a:defRPr sz="1800">
                <a:solidFill>
                  <a:srgbClr val="333333"/>
                </a:solidFill>
                <a:latin typeface="Arial"/>
              </a:defRPr>
            </a:pPr>
            <a:r>
              <a:t>• Taxonomy compliance mandatory for external vendors</a:t>
            </a:r>
          </a:p>
          <a:p>
            <a:pPr algn="l">
              <a:spcAft>
                <a:spcPts val="1000"/>
              </a:spcAft>
              <a:defRPr sz="1800">
                <a:solidFill>
                  <a:srgbClr val="333333"/>
                </a:solidFill>
                <a:latin typeface="Arial"/>
              </a:defRPr>
            </a:pPr>
            <a:r>
              <a:t>• Standardized skills enable downward rate optimization</a:t>
            </a:r>
          </a:p>
          <a:p>
            <a:pPr algn="l">
              <a:spcAft>
                <a:spcPts val="1000"/>
              </a:spcAft>
              <a:defRPr sz="1800">
                <a:solidFill>
                  <a:srgbClr val="333333"/>
                </a:solidFill>
                <a:latin typeface="Arial"/>
              </a:defRPr>
            </a:pPr>
            <a:r>
              <a:t>• Employee protection: Internal data privacy filters</a:t>
            </a:r>
          </a:p>
        </p:txBody>
      </p:sp>
      <p:sp>
        <p:nvSpPr>
          <p:cNvPr id="6" name="Oval 5"/>
          <p:cNvSpPr/>
          <p:nvPr/>
        </p:nvSpPr>
        <p:spPr>
          <a:xfrm>
            <a:off x="7315200" y="2011680"/>
            <a:ext cx="2743200" cy="2743200"/>
          </a:xfrm>
          <a:prstGeom prst="ellipse">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FFFFFF"/>
                </a:solidFill>
              </a:defRPr>
            </a:pPr>
            <a:br/>
            <a:r>
              <a:t>Full-Time</a:t>
            </a:r>
            <a:br/>
            <a:r>
              <a:t>Employees</a:t>
            </a:r>
          </a:p>
        </p:txBody>
      </p:sp>
      <p:sp>
        <p:nvSpPr>
          <p:cNvPr id="7" name="Oval 6"/>
          <p:cNvSpPr/>
          <p:nvPr/>
        </p:nvSpPr>
        <p:spPr>
          <a:xfrm>
            <a:off x="8961120" y="2011680"/>
            <a:ext cx="2743200" cy="274320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FFFFFF"/>
                </a:solidFill>
              </a:defRPr>
            </a:pPr>
            <a:br/>
            <a:br/>
            <a:r>
              <a:t>External</a:t>
            </a:r>
            <a:br/>
            <a:r>
              <a:t>Contractors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731520"/>
          </a:xfrm>
          <a:prstGeom prst="rect">
            <a:avLst/>
          </a:prstGeom>
          <a:noFill/>
        </p:spPr>
        <p:txBody>
          <a:bodyPr wrap="square">
            <a:spAutoFit/>
          </a:bodyPr>
          <a:lstStyle/>
          <a:p>
            <a:pPr algn="ctr">
              <a:defRPr sz="3600" b="1">
                <a:solidFill>
                  <a:srgbClr val="0A2540"/>
                </a:solidFill>
                <a:latin typeface="Arial"/>
              </a:defRPr>
            </a:pPr>
            <a:r>
              <a:t>Operational &amp; Financial Success</a:t>
            </a:r>
          </a:p>
        </p:txBody>
      </p:sp>
      <p:sp>
        <p:nvSpPr>
          <p:cNvPr id="4" name="TextBox 3"/>
          <p:cNvSpPr txBox="1"/>
          <p:nvPr/>
        </p:nvSpPr>
        <p:spPr>
          <a:xfrm>
            <a:off x="457200" y="6492240"/>
            <a:ext cx="11277295" cy="274320"/>
          </a:xfrm>
          <a:prstGeom prst="rect">
            <a:avLst/>
          </a:prstGeom>
          <a:noFill/>
        </p:spPr>
        <p:txBody>
          <a:bodyPr wrap="none">
            <a:spAutoFit/>
          </a:bodyPr>
          <a:lstStyle/>
          <a:p>
            <a:pPr algn="r">
              <a:defRPr sz="1000" i="1">
                <a:solidFill>
                  <a:srgbClr val="808080"/>
                </a:solidFill>
                <a:latin typeface="Arial"/>
              </a:defRPr>
            </a:pPr>
            <a:r>
              <a:t>Boudreau, J. W. (2010). IBM's Global Talent Management Strategy. SHRM.</a:t>
            </a:r>
          </a:p>
        </p:txBody>
      </p:sp>
      <p:sp>
        <p:nvSpPr>
          <p:cNvPr id="5" name="TextBox 4"/>
          <p:cNvSpPr txBox="1"/>
          <p:nvPr/>
        </p:nvSpPr>
        <p:spPr>
          <a:xfrm>
            <a:off x="731520" y="1645920"/>
            <a:ext cx="6217920" cy="4114800"/>
          </a:xfrm>
          <a:prstGeom prst="rect">
            <a:avLst/>
          </a:prstGeom>
          <a:noFill/>
        </p:spPr>
        <p:txBody>
          <a:bodyPr wrap="square">
            <a:spAutoFit/>
          </a:bodyPr>
          <a:lstStyle/>
          <a:p>
            <a:pPr algn="l">
              <a:spcAft>
                <a:spcPts val="1000"/>
              </a:spcAft>
              <a:defRPr sz="1800">
                <a:solidFill>
                  <a:srgbClr val="333333"/>
                </a:solidFill>
                <a:latin typeface="Arial"/>
              </a:defRPr>
            </a:pPr>
            <a:r>
              <a:t>• Billable utilization increased by 9 percentage points</a:t>
            </a:r>
          </a:p>
          <a:p>
            <a:pPr algn="l">
              <a:spcAft>
                <a:spcPts val="1000"/>
              </a:spcAft>
              <a:defRPr sz="1800">
                <a:solidFill>
                  <a:srgbClr val="333333"/>
                </a:solidFill>
                <a:latin typeface="Arial"/>
              </a:defRPr>
            </a:pPr>
            <a:r>
              <a:t>• US$1.5 billion generated in total business benefits</a:t>
            </a:r>
          </a:p>
          <a:p>
            <a:pPr algn="l">
              <a:spcAft>
                <a:spcPts val="1000"/>
              </a:spcAft>
              <a:defRPr sz="1800">
                <a:solidFill>
                  <a:srgbClr val="333333"/>
                </a:solidFill>
                <a:latin typeface="Arial"/>
              </a:defRPr>
            </a:pPr>
            <a:r>
              <a:t>• US$453 million in direct bottom-line cost savings</a:t>
            </a:r>
          </a:p>
          <a:p>
            <a:pPr algn="l">
              <a:spcAft>
                <a:spcPts val="1000"/>
              </a:spcAft>
              <a:defRPr sz="1800">
                <a:solidFill>
                  <a:srgbClr val="333333"/>
                </a:solidFill>
                <a:latin typeface="Arial"/>
              </a:defRPr>
            </a:pPr>
            <a:r>
              <a:t>• Total investment capped at US$230 million over 5 years</a:t>
            </a:r>
          </a:p>
          <a:p>
            <a:pPr algn="l">
              <a:spcAft>
                <a:spcPts val="1000"/>
              </a:spcAft>
              <a:defRPr sz="1800">
                <a:solidFill>
                  <a:srgbClr val="333333"/>
                </a:solidFill>
                <a:latin typeface="Arial"/>
              </a:defRPr>
            </a:pPr>
            <a:r>
              <a:t>• WMI brand offering 'lifetime employability' deal</a:t>
            </a:r>
          </a:p>
          <a:p>
            <a:pPr algn="l">
              <a:spcAft>
                <a:spcPts val="1000"/>
              </a:spcAft>
              <a:defRPr sz="1800">
                <a:solidFill>
                  <a:srgbClr val="333333"/>
                </a:solidFill>
                <a:latin typeface="Arial"/>
              </a:defRPr>
            </a:pPr>
            <a:r>
              <a:t>• Over 90% of global job roles integrated by 2008</a:t>
            </a:r>
          </a:p>
        </p:txBody>
      </p:sp>
      <p:sp>
        <p:nvSpPr>
          <p:cNvPr id="6" name="Rounded Rectangle 5"/>
          <p:cNvSpPr/>
          <p:nvPr/>
        </p:nvSpPr>
        <p:spPr>
          <a:xfrm>
            <a:off x="7315200" y="1828800"/>
            <a:ext cx="4114800" cy="1737360"/>
          </a:xfrm>
          <a:prstGeom prst="roundRect">
            <a:avLst/>
          </a:prstGeom>
          <a:solidFill>
            <a:srgbClr val="F5F7FA"/>
          </a:solidFill>
          <a:ln w="38100">
            <a:solidFill>
              <a:srgbClr val="0099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3600">
                <a:solidFill>
                  <a:srgbClr val="00994C"/>
                </a:solidFill>
              </a:defRPr>
            </a:pPr>
            <a:r>
              <a:t>US$1.5 Billion</a:t>
            </a:r>
          </a:p>
          <a:p>
            <a:pPr algn="ctr">
              <a:defRPr sz="1400">
                <a:solidFill>
                  <a:srgbClr val="0A2540"/>
                </a:solidFill>
              </a:defRPr>
            </a:pPr>
            <a:r>
              <a:t>Total WMI Business Benefits</a:t>
            </a:r>
          </a:p>
        </p:txBody>
      </p:sp>
      <p:sp>
        <p:nvSpPr>
          <p:cNvPr id="7" name="Rounded Rectangle 6"/>
          <p:cNvSpPr/>
          <p:nvPr/>
        </p:nvSpPr>
        <p:spPr>
          <a:xfrm>
            <a:off x="7315200" y="3749039"/>
            <a:ext cx="4114800" cy="1737360"/>
          </a:xfrm>
          <a:prstGeom prst="roundRect">
            <a:avLst/>
          </a:prstGeom>
          <a:solidFill>
            <a:srgbClr val="F5F7FA"/>
          </a:solidFill>
          <a:ln w="381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3600">
                <a:solidFill>
                  <a:srgbClr val="0066CC"/>
                </a:solidFill>
              </a:defRPr>
            </a:pPr>
            <a:r>
              <a:t>+9% Points</a:t>
            </a:r>
          </a:p>
          <a:p>
            <a:pPr algn="ctr">
              <a:defRPr sz="1400">
                <a:solidFill>
                  <a:srgbClr val="0A2540"/>
                </a:solidFill>
              </a:defRPr>
            </a:pPr>
            <a:r>
              <a:t>Increase in Billable Utilization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731520"/>
          </a:xfrm>
          <a:prstGeom prst="rect">
            <a:avLst/>
          </a:prstGeom>
          <a:noFill/>
        </p:spPr>
        <p:txBody>
          <a:bodyPr wrap="square">
            <a:spAutoFit/>
          </a:bodyPr>
          <a:lstStyle/>
          <a:p>
            <a:pPr algn="ctr">
              <a:defRPr sz="3600" b="1">
                <a:solidFill>
                  <a:srgbClr val="0A2540"/>
                </a:solidFill>
                <a:latin typeface="Arial"/>
              </a:defRPr>
            </a:pPr>
            <a:r>
              <a:t>Qualitative Limitations &amp; Challenges</a:t>
            </a:r>
          </a:p>
        </p:txBody>
      </p:sp>
      <p:sp>
        <p:nvSpPr>
          <p:cNvPr id="4" name="TextBox 3"/>
          <p:cNvSpPr txBox="1"/>
          <p:nvPr/>
        </p:nvSpPr>
        <p:spPr>
          <a:xfrm>
            <a:off x="457200" y="6492240"/>
            <a:ext cx="11277295" cy="274320"/>
          </a:xfrm>
          <a:prstGeom prst="rect">
            <a:avLst/>
          </a:prstGeom>
          <a:noFill/>
        </p:spPr>
        <p:txBody>
          <a:bodyPr wrap="none">
            <a:spAutoFit/>
          </a:bodyPr>
          <a:lstStyle/>
          <a:p>
            <a:pPr algn="r">
              <a:defRPr sz="1000" i="1">
                <a:solidFill>
                  <a:srgbClr val="808080"/>
                </a:solidFill>
                <a:latin typeface="Arial"/>
              </a:defRPr>
            </a:pPr>
            <a:r>
              <a:t>Boudreau, J. W. (2010). IBM's Global Talent Management Strategy. SHRM.</a:t>
            </a:r>
          </a:p>
        </p:txBody>
      </p:sp>
      <p:sp>
        <p:nvSpPr>
          <p:cNvPr id="5" name="TextBox 4"/>
          <p:cNvSpPr txBox="1"/>
          <p:nvPr/>
        </p:nvSpPr>
        <p:spPr>
          <a:xfrm>
            <a:off x="731520" y="1645920"/>
            <a:ext cx="6217920" cy="4114800"/>
          </a:xfrm>
          <a:prstGeom prst="rect">
            <a:avLst/>
          </a:prstGeom>
          <a:noFill/>
        </p:spPr>
        <p:txBody>
          <a:bodyPr wrap="square">
            <a:spAutoFit/>
          </a:bodyPr>
          <a:lstStyle/>
          <a:p>
            <a:pPr algn="l">
              <a:spcAft>
                <a:spcPts val="1000"/>
              </a:spcAft>
              <a:defRPr sz="1800">
                <a:solidFill>
                  <a:srgbClr val="333333"/>
                </a:solidFill>
                <a:latin typeface="Arial"/>
              </a:defRPr>
            </a:pPr>
            <a:r>
              <a:t>• Risk of workforce skill commoditization and barcodes</a:t>
            </a:r>
          </a:p>
          <a:p>
            <a:pPr algn="l">
              <a:spcAft>
                <a:spcPts val="1000"/>
              </a:spcAft>
              <a:defRPr sz="1800">
                <a:solidFill>
                  <a:srgbClr val="333333"/>
                </a:solidFill>
                <a:latin typeface="Arial"/>
              </a:defRPr>
            </a:pPr>
            <a:r>
              <a:t>• Employee self-assessment bias and subjective profile data</a:t>
            </a:r>
          </a:p>
          <a:p>
            <a:pPr algn="l">
              <a:spcAft>
                <a:spcPts val="1000"/>
              </a:spcAft>
              <a:defRPr sz="1800">
                <a:solidFill>
                  <a:srgbClr val="333333"/>
                </a:solidFill>
                <a:latin typeface="Arial"/>
              </a:defRPr>
            </a:pPr>
            <a:r>
              <a:t>• Heavier validation and administrative burden on managers</a:t>
            </a:r>
          </a:p>
          <a:p>
            <a:pPr algn="l">
              <a:spcAft>
                <a:spcPts val="1000"/>
              </a:spcAft>
              <a:defRPr sz="1800">
                <a:solidFill>
                  <a:srgbClr val="333333"/>
                </a:solidFill>
                <a:latin typeface="Arial"/>
              </a:defRPr>
            </a:pPr>
            <a:r>
              <a:t>• Centralized global visibility clashed with EU privacy laws</a:t>
            </a:r>
          </a:p>
          <a:p>
            <a:pPr algn="l">
              <a:spcAft>
                <a:spcPts val="1000"/>
              </a:spcAft>
              <a:defRPr sz="1800">
                <a:solidFill>
                  <a:srgbClr val="333333"/>
                </a:solidFill>
                <a:latin typeface="Arial"/>
              </a:defRPr>
            </a:pPr>
            <a:r>
              <a:t>• New HR structures required high business and data capability</a:t>
            </a:r>
          </a:p>
          <a:p>
            <a:pPr algn="l">
              <a:spcAft>
                <a:spcPts val="1000"/>
              </a:spcAft>
              <a:defRPr sz="1800">
                <a:solidFill>
                  <a:srgbClr val="333333"/>
                </a:solidFill>
                <a:latin typeface="Arial"/>
              </a:defRPr>
            </a:pPr>
            <a:r>
              <a:t>• Analytical metrics clashed with traditional trust and values</a:t>
            </a:r>
          </a:p>
        </p:txBody>
      </p:sp>
      <p:sp>
        <p:nvSpPr>
          <p:cNvPr id="6" name="Rounded Rectangle 5"/>
          <p:cNvSpPr/>
          <p:nvPr/>
        </p:nvSpPr>
        <p:spPr>
          <a:xfrm>
            <a:off x="7498079" y="2011680"/>
            <a:ext cx="3931920" cy="3200400"/>
          </a:xfrm>
          <a:prstGeom prst="roundRect">
            <a:avLst/>
          </a:prstGeom>
          <a:solidFill>
            <a:srgbClr val="F5F7FA"/>
          </a:solidFill>
          <a:ln w="381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b="1" sz="2400">
                <a:solidFill>
                  <a:srgbClr val="CC0000"/>
                </a:solidFill>
              </a:defRPr>
            </a:pPr>
            <a:r>
              <a:t>CRITICAL RISKS</a:t>
            </a:r>
          </a:p>
          <a:p>
            <a:pPr algn="l">
              <a:defRPr sz="1600">
                <a:solidFill>
                  <a:srgbClr val="333333"/>
                </a:solidFill>
              </a:defRPr>
            </a:pPr>
            <a:r>
              <a:t>• Metrics-only commoditization</a:t>
            </a:r>
            <a:br/>
            <a:r>
              <a:t>• Data privacy limits (GDPR / EU)</a:t>
            </a:r>
            <a:br/>
            <a:r>
              <a:t>• Manager administrative fatigue</a:t>
            </a:r>
            <a:br/>
            <a:r>
              <a:t>• Internal HR capability gap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731520"/>
          </a:xfrm>
          <a:prstGeom prst="rect">
            <a:avLst/>
          </a:prstGeom>
          <a:noFill/>
        </p:spPr>
        <p:txBody>
          <a:bodyPr wrap="square">
            <a:spAutoFit/>
          </a:bodyPr>
          <a:lstStyle/>
          <a:p>
            <a:pPr algn="ctr">
              <a:defRPr sz="3600" b="1">
                <a:solidFill>
                  <a:srgbClr val="0A2540"/>
                </a:solidFill>
                <a:latin typeface="Arial"/>
              </a:defRPr>
            </a:pPr>
            <a:r>
              <a:t>Recommendations: Scale &amp; Context</a:t>
            </a:r>
          </a:p>
        </p:txBody>
      </p:sp>
      <p:sp>
        <p:nvSpPr>
          <p:cNvPr id="4" name="TextBox 3"/>
          <p:cNvSpPr txBox="1"/>
          <p:nvPr/>
        </p:nvSpPr>
        <p:spPr>
          <a:xfrm>
            <a:off x="457200" y="6492240"/>
            <a:ext cx="11277295" cy="274320"/>
          </a:xfrm>
          <a:prstGeom prst="rect">
            <a:avLst/>
          </a:prstGeom>
          <a:noFill/>
        </p:spPr>
        <p:txBody>
          <a:bodyPr wrap="none">
            <a:spAutoFit/>
          </a:bodyPr>
          <a:lstStyle/>
          <a:p>
            <a:pPr algn="r">
              <a:defRPr sz="1000" i="1">
                <a:solidFill>
                  <a:srgbClr val="808080"/>
                </a:solidFill>
                <a:latin typeface="Arial"/>
              </a:defRPr>
            </a:pPr>
            <a:r>
              <a:t>Boudreau, J. W. (2010). IBM's Global Talent Management Strategy. SHRM.</a:t>
            </a:r>
          </a:p>
        </p:txBody>
      </p:sp>
      <p:sp>
        <p:nvSpPr>
          <p:cNvPr id="5" name="TextBox 4"/>
          <p:cNvSpPr txBox="1"/>
          <p:nvPr/>
        </p:nvSpPr>
        <p:spPr>
          <a:xfrm>
            <a:off x="731520" y="1645920"/>
            <a:ext cx="6217920" cy="4114800"/>
          </a:xfrm>
          <a:prstGeom prst="rect">
            <a:avLst/>
          </a:prstGeom>
          <a:noFill/>
        </p:spPr>
        <p:txBody>
          <a:bodyPr wrap="square">
            <a:spAutoFit/>
          </a:bodyPr>
          <a:lstStyle/>
          <a:p>
            <a:pPr algn="l">
              <a:spcAft>
                <a:spcPts val="1000"/>
              </a:spcAft>
              <a:defRPr sz="1800">
                <a:solidFill>
                  <a:srgbClr val="333333"/>
                </a:solidFill>
                <a:latin typeface="Arial"/>
              </a:defRPr>
            </a:pPr>
            <a:r>
              <a:t>• Do not replicate blindly; adapt to local realities</a:t>
            </a:r>
          </a:p>
          <a:p>
            <a:pPr algn="l">
              <a:spcAft>
                <a:spcPts val="1000"/>
              </a:spcAft>
              <a:defRPr sz="1800">
                <a:solidFill>
                  <a:srgbClr val="333333"/>
                </a:solidFill>
                <a:latin typeface="Arial"/>
              </a:defRPr>
            </a:pPr>
            <a:r>
              <a:t>• Scale constraint: Limit to large firms (&gt;50k staff)</a:t>
            </a:r>
          </a:p>
          <a:p>
            <a:pPr algn="l">
              <a:spcAft>
                <a:spcPts val="1000"/>
              </a:spcAft>
              <a:defRPr sz="1800">
                <a:solidFill>
                  <a:srgbClr val="333333"/>
                </a:solidFill>
                <a:latin typeface="Arial"/>
              </a:defRPr>
            </a:pPr>
            <a:r>
              <a:t>• Industry focus: Services and knowledge-intensive sectors</a:t>
            </a:r>
          </a:p>
          <a:p>
            <a:pPr algn="l">
              <a:spcAft>
                <a:spcPts val="1000"/>
              </a:spcAft>
              <a:defRPr sz="1800">
                <a:solidFill>
                  <a:srgbClr val="333333"/>
                </a:solidFill>
                <a:latin typeface="Arial"/>
              </a:defRPr>
            </a:pPr>
            <a:r>
              <a:t>• Strategic alignment: Align HR metrics with business KPIs</a:t>
            </a:r>
          </a:p>
          <a:p>
            <a:pPr algn="l">
              <a:spcAft>
                <a:spcPts val="1000"/>
              </a:spcAft>
              <a:defRPr sz="1800">
                <a:solidFill>
                  <a:srgbClr val="333333"/>
                </a:solidFill>
                <a:latin typeface="Arial"/>
              </a:defRPr>
            </a:pPr>
            <a:r>
              <a:t>• Governance model: Establish decentralized business stewards</a:t>
            </a:r>
          </a:p>
          <a:p>
            <a:pPr algn="l">
              <a:spcAft>
                <a:spcPts val="1000"/>
              </a:spcAft>
              <a:defRPr sz="1800">
                <a:solidFill>
                  <a:srgbClr val="333333"/>
                </a:solidFill>
                <a:latin typeface="Arial"/>
              </a:defRPr>
            </a:pPr>
            <a:r>
              <a:t>• Avoid pure HR control; keep business leaders in charge</a:t>
            </a:r>
          </a:p>
        </p:txBody>
      </p:sp>
      <p:sp>
        <p:nvSpPr>
          <p:cNvPr id="6" name="Rounded Rectangle 5"/>
          <p:cNvSpPr/>
          <p:nvPr/>
        </p:nvSpPr>
        <p:spPr>
          <a:xfrm>
            <a:off x="7498079" y="2011680"/>
            <a:ext cx="3931920" cy="320040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b="1" sz="2200">
                <a:solidFill>
                  <a:srgbClr val="FFFFFF"/>
                </a:solidFill>
              </a:defRPr>
            </a:pPr>
            <a:r>
              <a:t>ADOPTION CRITERIA</a:t>
            </a:r>
          </a:p>
          <a:p>
            <a:pPr algn="l">
              <a:defRPr sz="1600">
                <a:solidFill>
                  <a:srgbClr val="FFFFFF"/>
                </a:solidFill>
              </a:defRPr>
            </a:pPr>
            <a:r>
              <a:t>1. Scale: Massive global footprint</a:t>
            </a:r>
            <a:br/>
            <a:r>
              <a:t>2. Sector: High-value service sector</a:t>
            </a:r>
            <a:br/>
            <a:r>
              <a:t>3. Culture: Digital and data-ready</a:t>
            </a:r>
            <a:br/>
            <a:r>
              <a:t>4. Business-led Governance board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731520"/>
          </a:xfrm>
          <a:prstGeom prst="rect">
            <a:avLst/>
          </a:prstGeom>
          <a:noFill/>
        </p:spPr>
        <p:txBody>
          <a:bodyPr wrap="square">
            <a:spAutoFit/>
          </a:bodyPr>
          <a:lstStyle/>
          <a:p>
            <a:pPr algn="ctr">
              <a:defRPr sz="3600" b="1">
                <a:solidFill>
                  <a:srgbClr val="0A2540"/>
                </a:solidFill>
                <a:latin typeface="Arial"/>
              </a:defRPr>
            </a:pPr>
            <a:r>
              <a:t>Recommendations: Implementation</a:t>
            </a:r>
          </a:p>
        </p:txBody>
      </p:sp>
      <p:sp>
        <p:nvSpPr>
          <p:cNvPr id="4" name="TextBox 3"/>
          <p:cNvSpPr txBox="1"/>
          <p:nvPr/>
        </p:nvSpPr>
        <p:spPr>
          <a:xfrm>
            <a:off x="457200" y="6492240"/>
            <a:ext cx="11277295" cy="274320"/>
          </a:xfrm>
          <a:prstGeom prst="rect">
            <a:avLst/>
          </a:prstGeom>
          <a:noFill/>
        </p:spPr>
        <p:txBody>
          <a:bodyPr wrap="none">
            <a:spAutoFit/>
          </a:bodyPr>
          <a:lstStyle/>
          <a:p>
            <a:pPr algn="r">
              <a:defRPr sz="1000" i="1">
                <a:solidFill>
                  <a:srgbClr val="808080"/>
                </a:solidFill>
                <a:latin typeface="Arial"/>
              </a:defRPr>
            </a:pPr>
            <a:r>
              <a:t>Boudreau, J. W. (2010). IBM's Global Talent Management Strategy. SHRM.</a:t>
            </a:r>
          </a:p>
        </p:txBody>
      </p:sp>
      <p:sp>
        <p:nvSpPr>
          <p:cNvPr id="5" name="TextBox 4"/>
          <p:cNvSpPr txBox="1"/>
          <p:nvPr/>
        </p:nvSpPr>
        <p:spPr>
          <a:xfrm>
            <a:off x="731520" y="1645920"/>
            <a:ext cx="6217920" cy="4114800"/>
          </a:xfrm>
          <a:prstGeom prst="rect">
            <a:avLst/>
          </a:prstGeom>
          <a:noFill/>
        </p:spPr>
        <p:txBody>
          <a:bodyPr wrap="square">
            <a:spAutoFit/>
          </a:bodyPr>
          <a:lstStyle/>
          <a:p>
            <a:pPr algn="l">
              <a:spcAft>
                <a:spcPts val="1000"/>
              </a:spcAft>
              <a:defRPr sz="1800">
                <a:solidFill>
                  <a:srgbClr val="333333"/>
                </a:solidFill>
                <a:latin typeface="Arial"/>
              </a:defRPr>
            </a:pPr>
            <a:r>
              <a:t>• Implement 'Human-in-the-Loop' talent placement</a:t>
            </a:r>
          </a:p>
          <a:p>
            <a:pPr algn="l">
              <a:spcAft>
                <a:spcPts val="1000"/>
              </a:spcAft>
              <a:defRPr sz="1800">
                <a:solidFill>
                  <a:srgbClr val="333333"/>
                </a:solidFill>
                <a:latin typeface="Arial"/>
              </a:defRPr>
            </a:pPr>
            <a:r>
              <a:t>• Use data for short-listing; humans for final decisions</a:t>
            </a:r>
          </a:p>
          <a:p>
            <a:pPr algn="l">
              <a:spcAft>
                <a:spcPts val="1000"/>
              </a:spcAft>
              <a:defRPr sz="1800">
                <a:solidFill>
                  <a:srgbClr val="333333"/>
                </a:solidFill>
                <a:latin typeface="Arial"/>
              </a:defRPr>
            </a:pPr>
            <a:r>
              <a:t>• Invest in analytical training for HR professionals</a:t>
            </a:r>
          </a:p>
          <a:p>
            <a:pPr algn="l">
              <a:spcAft>
                <a:spcPts val="1000"/>
              </a:spcAft>
              <a:defRPr sz="1800">
                <a:solidFill>
                  <a:srgbClr val="333333"/>
                </a:solidFill>
                <a:latin typeface="Arial"/>
              </a:defRPr>
            </a:pPr>
            <a:r>
              <a:t>• Build with 'Privacy-by-Design' compliance architecture</a:t>
            </a:r>
          </a:p>
          <a:p>
            <a:pPr algn="l">
              <a:spcAft>
                <a:spcPts val="1000"/>
              </a:spcAft>
              <a:defRPr sz="1800">
                <a:solidFill>
                  <a:srgbClr val="333333"/>
                </a:solidFill>
                <a:latin typeface="Arial"/>
              </a:defRPr>
            </a:pPr>
            <a:r>
              <a:t>• Integrate external suppliers and vendors early on</a:t>
            </a:r>
          </a:p>
          <a:p>
            <a:pPr algn="l">
              <a:spcAft>
                <a:spcPts val="1000"/>
              </a:spcAft>
              <a:defRPr sz="1800">
                <a:solidFill>
                  <a:srgbClr val="333333"/>
                </a:solidFill>
                <a:latin typeface="Arial"/>
              </a:defRPr>
            </a:pPr>
            <a:r>
              <a:t>• Actively balance metrics with organizational trust</a:t>
            </a:r>
          </a:p>
        </p:txBody>
      </p:sp>
      <p:sp>
        <p:nvSpPr>
          <p:cNvPr id="6" name="Rounded Rectangle 5"/>
          <p:cNvSpPr/>
          <p:nvPr/>
        </p:nvSpPr>
        <p:spPr>
          <a:xfrm>
            <a:off x="7315200" y="2011680"/>
            <a:ext cx="1920240" cy="2743200"/>
          </a:xfrm>
          <a:prstGeom prst="roundRect">
            <a:avLst/>
          </a:prstGeom>
          <a:solidFill>
            <a:srgbClr val="F5F7FA"/>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a:solidFill>
                  <a:srgbClr val="0066CC"/>
                </a:solidFill>
              </a:defRPr>
            </a:pPr>
            <a:r>
              <a:t>HARD SIDE</a:t>
            </a:r>
          </a:p>
          <a:p>
            <a:br/>
            <a:pPr>
              <a:defRPr sz="1300">
                <a:solidFill>
                  <a:srgbClr val="333333"/>
                </a:solidFill>
              </a:defRPr>
            </a:pPr>
            <a:r>
              <a:t>• Data analytics</a:t>
            </a:r>
            <a:br/>
            <a:r>
              <a:t>• SKUs &amp; Taxonomy</a:t>
            </a:r>
            <a:br/>
            <a:r>
              <a:t>• Resource tracking</a:t>
            </a:r>
            <a:br/>
            <a:r>
              <a:t>• Standardization</a:t>
            </a:r>
          </a:p>
        </p:txBody>
      </p:sp>
      <p:sp>
        <p:nvSpPr>
          <p:cNvPr id="7" name="Rounded Rectangle 6"/>
          <p:cNvSpPr/>
          <p:nvPr/>
        </p:nvSpPr>
        <p:spPr>
          <a:xfrm>
            <a:off x="9601200" y="2011680"/>
            <a:ext cx="1920240" cy="2743200"/>
          </a:xfrm>
          <a:prstGeom prst="roundRect">
            <a:avLst/>
          </a:prstGeom>
          <a:solidFill>
            <a:srgbClr val="F5F7FA"/>
          </a:solidFill>
          <a:ln w="25400">
            <a:solidFill>
              <a:srgbClr val="0A254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a:solidFill>
                  <a:srgbClr val="0A2540"/>
                </a:solidFill>
              </a:defRPr>
            </a:pPr>
            <a:r>
              <a:t>SOFT SIDE</a:t>
            </a:r>
          </a:p>
          <a:p>
            <a:br/>
            <a:pPr>
              <a:defRPr sz="1300">
                <a:solidFill>
                  <a:srgbClr val="333333"/>
                </a:solidFill>
              </a:defRPr>
            </a:pPr>
            <a:r>
              <a:t>• Trust &amp; Chemistry</a:t>
            </a:r>
            <a:br/>
            <a:r>
              <a:t>• Human values</a:t>
            </a:r>
            <a:br/>
            <a:r>
              <a:t>• Employee care</a:t>
            </a:r>
            <a:br/>
            <a:r>
              <a:t>• Career aspirations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731520"/>
          </a:xfrm>
          <a:prstGeom prst="rect">
            <a:avLst/>
          </a:prstGeom>
          <a:noFill/>
        </p:spPr>
        <p:txBody>
          <a:bodyPr wrap="square">
            <a:spAutoFit/>
          </a:bodyPr>
          <a:lstStyle/>
          <a:p>
            <a:pPr algn="ctr">
              <a:defRPr sz="3600" b="1">
                <a:solidFill>
                  <a:srgbClr val="0A2540"/>
                </a:solidFill>
                <a:latin typeface="Arial"/>
              </a:defRPr>
            </a:pPr>
            <a:r>
              <a:t>Conclusions: Key Takeaways</a:t>
            </a:r>
          </a:p>
        </p:txBody>
      </p:sp>
      <p:sp>
        <p:nvSpPr>
          <p:cNvPr id="4" name="TextBox 3"/>
          <p:cNvSpPr txBox="1"/>
          <p:nvPr/>
        </p:nvSpPr>
        <p:spPr>
          <a:xfrm>
            <a:off x="457200" y="6492240"/>
            <a:ext cx="11277295" cy="274320"/>
          </a:xfrm>
          <a:prstGeom prst="rect">
            <a:avLst/>
          </a:prstGeom>
          <a:noFill/>
        </p:spPr>
        <p:txBody>
          <a:bodyPr wrap="none">
            <a:spAutoFit/>
          </a:bodyPr>
          <a:lstStyle/>
          <a:p>
            <a:pPr algn="r">
              <a:defRPr sz="1000" i="1">
                <a:solidFill>
                  <a:srgbClr val="808080"/>
                </a:solidFill>
                <a:latin typeface="Arial"/>
              </a:defRPr>
            </a:pPr>
            <a:r>
              <a:t>Boudreau, J. W. (2010). IBM's Global Talent Management Strategy. SHRM.</a:t>
            </a:r>
          </a:p>
        </p:txBody>
      </p:sp>
      <p:sp>
        <p:nvSpPr>
          <p:cNvPr id="5" name="TextBox 4"/>
          <p:cNvSpPr txBox="1"/>
          <p:nvPr/>
        </p:nvSpPr>
        <p:spPr>
          <a:xfrm>
            <a:off x="731520" y="1645920"/>
            <a:ext cx="6217920" cy="4114800"/>
          </a:xfrm>
          <a:prstGeom prst="rect">
            <a:avLst/>
          </a:prstGeom>
          <a:noFill/>
        </p:spPr>
        <p:txBody>
          <a:bodyPr wrap="square">
            <a:spAutoFit/>
          </a:bodyPr>
          <a:lstStyle/>
          <a:p>
            <a:pPr algn="l">
              <a:spcAft>
                <a:spcPts val="1000"/>
              </a:spcAft>
              <a:defRPr sz="1800">
                <a:solidFill>
                  <a:srgbClr val="333333"/>
                </a:solidFill>
                <a:latin typeface="Arial"/>
              </a:defRPr>
            </a:pPr>
            <a:r>
              <a:t>• HR transformed into high-impact strategic business driver</a:t>
            </a:r>
          </a:p>
          <a:p>
            <a:pPr algn="l">
              <a:spcAft>
                <a:spcPts val="1000"/>
              </a:spcAft>
              <a:defRPr sz="1800">
                <a:solidFill>
                  <a:srgbClr val="333333"/>
                </a:solidFill>
                <a:latin typeface="Arial"/>
              </a:defRPr>
            </a:pPr>
            <a:r>
              <a:t>• Enterprise 'common language' unlocks talent agility</a:t>
            </a:r>
          </a:p>
          <a:p>
            <a:pPr algn="l">
              <a:spcAft>
                <a:spcPts val="1000"/>
              </a:spcAft>
              <a:defRPr sz="1800">
                <a:solidFill>
                  <a:srgbClr val="333333"/>
                </a:solidFill>
                <a:latin typeface="Arial"/>
              </a:defRPr>
            </a:pPr>
            <a:r>
              <a:t>• Supply chain metaphor is powerful but must have limits</a:t>
            </a:r>
          </a:p>
          <a:p>
            <a:pPr algn="l">
              <a:spcAft>
                <a:spcPts val="1000"/>
              </a:spcAft>
              <a:defRPr sz="1800">
                <a:solidFill>
                  <a:srgbClr val="333333"/>
                </a:solidFill>
                <a:latin typeface="Arial"/>
              </a:defRPr>
            </a:pPr>
            <a:r>
              <a:t>• Sustainable success balances analytics with human care</a:t>
            </a:r>
          </a:p>
          <a:p>
            <a:pPr algn="l">
              <a:spcAft>
                <a:spcPts val="1000"/>
              </a:spcAft>
              <a:defRPr sz="1800">
                <a:solidFill>
                  <a:srgbClr val="333333"/>
                </a:solidFill>
                <a:latin typeface="Arial"/>
              </a:defRPr>
            </a:pPr>
            <a:r>
              <a:t>• Dual-hatting structure embeds HR in operations</a:t>
            </a:r>
          </a:p>
          <a:p>
            <a:pPr algn="l">
              <a:spcAft>
                <a:spcPts val="1000"/>
              </a:spcAft>
              <a:defRPr sz="1800">
                <a:solidFill>
                  <a:srgbClr val="333333"/>
                </a:solidFill>
                <a:latin typeface="Arial"/>
              </a:defRPr>
            </a:pPr>
            <a:r>
              <a:t>• Skate to where the puck is going to be!</a:t>
            </a:r>
          </a:p>
        </p:txBody>
      </p:sp>
      <p:sp>
        <p:nvSpPr>
          <p:cNvPr id="6" name="Rounded Rectangle 5"/>
          <p:cNvSpPr/>
          <p:nvPr/>
        </p:nvSpPr>
        <p:spPr>
          <a:xfrm>
            <a:off x="7498079" y="2011680"/>
            <a:ext cx="3931920" cy="320040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b="1" sz="2200">
                <a:solidFill>
                  <a:srgbClr val="FFFFFF"/>
                </a:solidFill>
              </a:defRPr>
            </a:pPr>
            <a:r>
              <a:t>THE NEW DEAL</a:t>
            </a:r>
          </a:p>
          <a:p>
            <a:pPr algn="ctr">
              <a:defRPr sz="1500" b="1">
                <a:solidFill>
                  <a:srgbClr val="FFFFFF"/>
                </a:solidFill>
              </a:defRPr>
            </a:pPr>
            <a:r>
              <a:t>IBM did not offer lifetime employment; instead, it committed to providing</a:t>
            </a:r>
            <a:br/>
            <a:br/>
            <a:r>
              <a:t>LIFETIME EMPLOYABILITY</a:t>
            </a:r>
            <a:br/>
            <a:br/>
            <a:r>
              <a:t>through continuous, data-driven skill development.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731520"/>
          </a:xfrm>
          <a:prstGeom prst="rect">
            <a:avLst/>
          </a:prstGeom>
          <a:noFill/>
        </p:spPr>
        <p:txBody>
          <a:bodyPr wrap="square">
            <a:spAutoFit/>
          </a:bodyPr>
          <a:lstStyle/>
          <a:p>
            <a:pPr algn="ctr">
              <a:defRPr sz="3600" b="1">
                <a:solidFill>
                  <a:srgbClr val="0A2540"/>
                </a:solidFill>
                <a:latin typeface="Arial"/>
              </a:defRPr>
            </a:pPr>
            <a:r>
              <a:t>References &amp; Sources Cited</a:t>
            </a:r>
          </a:p>
        </p:txBody>
      </p:sp>
      <p:sp>
        <p:nvSpPr>
          <p:cNvPr id="4" name="TextBox 3"/>
          <p:cNvSpPr txBox="1"/>
          <p:nvPr/>
        </p:nvSpPr>
        <p:spPr>
          <a:xfrm>
            <a:off x="457200" y="6492240"/>
            <a:ext cx="11277295" cy="274320"/>
          </a:xfrm>
          <a:prstGeom prst="rect">
            <a:avLst/>
          </a:prstGeom>
          <a:noFill/>
        </p:spPr>
        <p:txBody>
          <a:bodyPr wrap="none">
            <a:spAutoFit/>
          </a:bodyPr>
          <a:lstStyle/>
          <a:p>
            <a:pPr algn="r">
              <a:defRPr sz="1000" i="1">
                <a:solidFill>
                  <a:srgbClr val="808080"/>
                </a:solidFill>
                <a:latin typeface="Arial"/>
              </a:defRPr>
            </a:pPr>
            <a:r>
              <a:t>Boudreau, J. W. (2010). IBM's Global Talent Management Strategy. SHRM.</a:t>
            </a:r>
          </a:p>
        </p:txBody>
      </p:sp>
      <p:sp>
        <p:nvSpPr>
          <p:cNvPr id="5" name="TextBox 4"/>
          <p:cNvSpPr txBox="1"/>
          <p:nvPr/>
        </p:nvSpPr>
        <p:spPr>
          <a:xfrm>
            <a:off x="731520" y="1645920"/>
            <a:ext cx="10515600" cy="4114800"/>
          </a:xfrm>
          <a:prstGeom prst="rect">
            <a:avLst/>
          </a:prstGeom>
          <a:noFill/>
        </p:spPr>
        <p:txBody>
          <a:bodyPr wrap="square">
            <a:spAutoFit/>
          </a:bodyPr>
          <a:lstStyle/>
          <a:p>
            <a:pPr algn="l">
              <a:spcAft>
                <a:spcPts val="1000"/>
              </a:spcAft>
              <a:defRPr sz="1500">
                <a:solidFill>
                  <a:srgbClr val="333333"/>
                </a:solidFill>
                <a:latin typeface="Arial"/>
              </a:defRPr>
            </a:pPr>
            <a:r>
              <a:t>• Boxall, P., &amp; Purcell, J. (2011). Strategy and Human Resource Management (3rd ed.). Palgrave Macmillan.</a:t>
            </a:r>
          </a:p>
          <a:p>
            <a:pPr algn="l">
              <a:spcAft>
                <a:spcPts val="1000"/>
              </a:spcAft>
              <a:defRPr sz="1500">
                <a:solidFill>
                  <a:srgbClr val="333333"/>
                </a:solidFill>
                <a:latin typeface="Arial"/>
              </a:defRPr>
            </a:pPr>
            <a:r>
              <a:t>• Boudreau, J. W. (2010). IBM's Global Talent Management Strategy: The Vision of the Globally Integrated Enterprise (Parts A, B &amp; C). SHRM.</a:t>
            </a:r>
          </a:p>
          <a:p>
            <a:pPr algn="l">
              <a:spcAft>
                <a:spcPts val="1000"/>
              </a:spcAft>
              <a:defRPr sz="1500">
                <a:solidFill>
                  <a:srgbClr val="333333"/>
                </a:solidFill>
                <a:latin typeface="Arial"/>
              </a:defRPr>
            </a:pPr>
            <a:r>
              <a:t>• Boudreau, J. W., &amp; Ramstad, P. M. (2007). Beyond HR: The New Science of Human Capital. Harvard Business School Press.</a:t>
            </a:r>
          </a:p>
          <a:p>
            <a:pPr algn="l">
              <a:spcAft>
                <a:spcPts val="1000"/>
              </a:spcAft>
              <a:defRPr sz="1500">
                <a:solidFill>
                  <a:srgbClr val="333333"/>
                </a:solidFill>
                <a:latin typeface="Arial"/>
              </a:defRPr>
            </a:pPr>
            <a:r>
              <a:t>• Cappelli, P. (2008). Talent on Demand: Managing Talent in an Age of Uncertainty. Harvard Business Publishing.</a:t>
            </a:r>
          </a:p>
          <a:p>
            <a:pPr algn="l">
              <a:spcAft>
                <a:spcPts val="1000"/>
              </a:spcAft>
              <a:defRPr sz="1500">
                <a:solidFill>
                  <a:srgbClr val="333333"/>
                </a:solidFill>
                <a:latin typeface="Arial"/>
              </a:defRPr>
            </a:pPr>
            <a:r>
              <a:t>• Lawler, E. E., III, &amp; Boudreau, J. W. (2009). Achieving Excellence in Human Resources Management. Stanford University Press.</a:t>
            </a:r>
          </a:p>
          <a:p>
            <a:pPr algn="l">
              <a:spcAft>
                <a:spcPts val="1000"/>
              </a:spcAft>
              <a:defRPr sz="1500">
                <a:solidFill>
                  <a:srgbClr val="333333"/>
                </a:solidFill>
                <a:latin typeface="Arial"/>
              </a:defRPr>
            </a:pPr>
            <a:r>
              <a:t>• Palmisano, S. J. (2006). The globally integrated enterprise. Foreign Affairs, 85(3), 127–136.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